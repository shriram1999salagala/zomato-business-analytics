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0" r:id="rId3"/>
    <p:sldId id="258" r:id="rId4"/>
    <p:sldId id="259" r:id="rId5"/>
    <p:sldId id="260" r:id="rId6"/>
    <p:sldId id="265" r:id="rId7"/>
    <p:sldId id="275" r:id="rId8"/>
    <p:sldId id="274" r:id="rId9"/>
    <p:sldId id="273" r:id="rId10"/>
    <p:sldId id="276" r:id="rId11"/>
    <p:sldId id="263" r:id="rId12"/>
    <p:sldId id="262" r:id="rId13"/>
    <p:sldId id="264" r:id="rId14"/>
    <p:sldId id="261" r:id="rId15"/>
    <p:sldId id="267" r:id="rId16"/>
    <p:sldId id="268" r:id="rId17"/>
    <p:sldId id="271" r:id="rId18"/>
    <p:sldId id="269" r:id="rId19"/>
    <p:sldId id="27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5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430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71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4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7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908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44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14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526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46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446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678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541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25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262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570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617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773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0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659380"/>
            <a:ext cx="5671312" cy="130386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Zomato Restaurant Data Analysis</a:t>
            </a:r>
            <a:endParaRPr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393" y="2119811"/>
            <a:ext cx="7607808" cy="8840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50" dirty="0"/>
              <a:t>Analyze restaurant data across cities and cuisines to uncover customer preferences, pricing trends, and key business insights</a:t>
            </a:r>
            <a:endParaRPr sz="18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02E0B-BF17-5619-6CBC-B3B8AB2CE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55" y="572729"/>
            <a:ext cx="1214677" cy="11051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22BAE0-115D-6E0C-79C9-A463F22FE45E}"/>
              </a:ext>
            </a:extLst>
          </p:cNvPr>
          <p:cNvSpPr txBox="1"/>
          <p:nvPr/>
        </p:nvSpPr>
        <p:spPr>
          <a:xfrm>
            <a:off x="5066792" y="3854189"/>
            <a:ext cx="3417570" cy="198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00" b="1" dirty="0"/>
              <a:t>Group members : 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n-US" sz="1800" dirty="0"/>
              <a:t>S P Shriram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n-US" dirty="0"/>
              <a:t>Aditya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n-US" dirty="0"/>
              <a:t>Pratap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n-US" sz="1800" dirty="0"/>
              <a:t>Nazrin </a:t>
            </a:r>
            <a:r>
              <a:rPr lang="en-US" sz="1800" dirty="0" err="1"/>
              <a:t>shashil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545A7-5448-CE27-1CE9-FAC6036A1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71" y="-668593"/>
            <a:ext cx="7405329" cy="2887798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8AF71D-30C5-3D98-A8E0-9DC854E2D2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3061" y="1481570"/>
            <a:ext cx="7328038" cy="434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The restaurant industry is </a:t>
            </a:r>
            <a:r>
              <a:rPr lang="en-US" sz="1600" b="1" dirty="0"/>
              <a:t>highly competitive and rapidly growing</a:t>
            </a:r>
            <a:r>
              <a:rPr lang="en-US" sz="1600" dirty="0"/>
              <a:t>, especially in urban cities.</a:t>
            </a:r>
          </a:p>
          <a:p>
            <a:r>
              <a:rPr lang="en-US" sz="1600" dirty="0"/>
              <a:t>Platforms like Zomato generate </a:t>
            </a:r>
            <a:r>
              <a:rPr lang="en-US" sz="1600" b="1" dirty="0"/>
              <a:t>large amounts of data</a:t>
            </a:r>
            <a:r>
              <a:rPr lang="en-US" sz="1600" dirty="0"/>
              <a:t> related to restaurants, cuisines, pricing, and customer behavior.</a:t>
            </a:r>
          </a:p>
          <a:p>
            <a:r>
              <a:rPr lang="en-US" sz="1600" dirty="0"/>
              <a:t>Analyzing this data helps in understanding </a:t>
            </a:r>
            <a:r>
              <a:rPr lang="en-US" sz="1600" b="1" dirty="0"/>
              <a:t>customer preferences and market trends</a:t>
            </a:r>
            <a:r>
              <a:rPr lang="en-US" sz="1600" dirty="0"/>
              <a:t>.</a:t>
            </a:r>
          </a:p>
          <a:p>
            <a:r>
              <a:rPr lang="en-US" sz="1600" dirty="0"/>
              <a:t>This project focuses on exploring restaurant data across </a:t>
            </a:r>
            <a:r>
              <a:rPr lang="en-US" sz="1600" b="1" dirty="0"/>
              <a:t>multiple cities, cuisines, and price ranges</a:t>
            </a:r>
            <a:r>
              <a:rPr lang="en-US" sz="1600" dirty="0"/>
              <a:t>.</a:t>
            </a:r>
          </a:p>
          <a:p>
            <a:r>
              <a:rPr lang="en-US" sz="1600" dirty="0"/>
              <a:t>The analysis aims to identify </a:t>
            </a:r>
            <a:r>
              <a:rPr lang="en-US" sz="1600" b="1" dirty="0"/>
              <a:t>key factors affecting restaurant performance</a:t>
            </a:r>
            <a:r>
              <a:rPr lang="en-US" sz="1600" dirty="0"/>
              <a:t>, such as ratings, cost, and services.</a:t>
            </a:r>
          </a:p>
          <a:p>
            <a:r>
              <a:rPr lang="en-US" sz="1600" dirty="0"/>
              <a:t>The insights derived from this dashboard can help businesses make </a:t>
            </a:r>
            <a:r>
              <a:rPr lang="en-US" sz="1600" b="1" dirty="0"/>
              <a:t>data-driven decisions to improve growth and customer satisfaction</a:t>
            </a:r>
            <a:r>
              <a:rPr lang="en-US" sz="1600" dirty="0"/>
              <a:t>.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542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Domain</a:t>
            </a:r>
            <a:r>
              <a:rPr dirty="0"/>
              <a:t>: Zomato Restaurant Data</a:t>
            </a:r>
            <a:endParaRPr lang="en-US" dirty="0"/>
          </a:p>
          <a:p>
            <a:r>
              <a:rPr lang="en-US" dirty="0"/>
              <a:t>Files: </a:t>
            </a:r>
            <a:r>
              <a:rPr lang="en-IN" dirty="0"/>
              <a:t>Zomato Restaurant Data.csv, country code.csv</a:t>
            </a:r>
            <a:endParaRPr dirty="0"/>
          </a:p>
          <a:p>
            <a:r>
              <a:rPr dirty="0"/>
              <a:t>Total Records: ~9000+</a:t>
            </a:r>
          </a:p>
          <a:p>
            <a:r>
              <a:rPr dirty="0"/>
              <a:t>Key </a:t>
            </a:r>
            <a:r>
              <a:rPr lang="en-US" dirty="0"/>
              <a:t>columns</a:t>
            </a:r>
            <a:r>
              <a:rPr dirty="0"/>
              <a:t>:</a:t>
            </a:r>
            <a:r>
              <a:rPr lang="en-US" dirty="0"/>
              <a:t> </a:t>
            </a:r>
            <a:r>
              <a:rPr dirty="0"/>
              <a:t>Restaurant Name, Location</a:t>
            </a:r>
            <a:r>
              <a:rPr lang="en-US" dirty="0"/>
              <a:t> ,</a:t>
            </a:r>
            <a:r>
              <a:rPr dirty="0"/>
              <a:t> Cuisines, Average Cost for Two</a:t>
            </a:r>
            <a:r>
              <a:rPr lang="en-US" dirty="0"/>
              <a:t> , </a:t>
            </a:r>
            <a:r>
              <a:rPr dirty="0"/>
              <a:t>Ratings, V</a:t>
            </a:r>
            <a:r>
              <a:rPr lang="en-IN" dirty="0" err="1"/>
              <a:t>otes</a:t>
            </a:r>
            <a:endParaRPr lang="en-IN" dirty="0"/>
          </a:p>
          <a:p>
            <a:r>
              <a:rPr lang="en-US" dirty="0"/>
              <a:t>The dataset consists of 9.5k  restaurants,140 cities ,15 countries ,1825 cuisines.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t>Objectives /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285999"/>
            <a:ext cx="7331201" cy="35898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Country-wise Restaurant Distribution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City &amp; Country-wise Restaurant Count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Restaurants Opened by Year , quarter wise trends 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Price Range Distribution Analysis 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Table Booking Analysis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Online Delivery Analysis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Cuisine wise  analysis 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Cities wise analysis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Rating distribution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IN"/>
              <a:t>Project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1" y="2556932"/>
            <a:ext cx="4692650" cy="331893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IN" sz="1700" dirty="0"/>
              <a:t>Step 1: Data Collection (CSV files)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Step 2: Data Cleaning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• Removed null values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• Handled missing ratings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• Removed duplicates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Step 3: creating calculate table for time line </a:t>
            </a:r>
            <a:r>
              <a:rPr lang="en-IN" sz="1700" dirty="0" err="1"/>
              <a:t>seris</a:t>
            </a:r>
            <a:r>
              <a:rPr lang="en-IN" sz="1700" dirty="0"/>
              <a:t>  analysis(year, quarter, month, day)  wise restaurant count 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Step 4 : created a data modelling relationship between tables 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Step 5: Data Visualization using power bi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Step 6: Insight Generation</a:t>
            </a:r>
          </a:p>
        </p:txBody>
      </p:sp>
      <p:pic>
        <p:nvPicPr>
          <p:cNvPr id="5" name="Picture 4" descr="People working on a computer">
            <a:extLst>
              <a:ext uri="{FF2B5EF4-FFF2-40B4-BE49-F238E27FC236}">
                <a16:creationId xmlns:a16="http://schemas.microsoft.com/office/drawing/2014/main" id="{143AB270-F889-AB4C-8255-A681982D9B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91" r="20028"/>
          <a:stretch>
            <a:fillRect/>
          </a:stretch>
        </p:blipFill>
        <p:spPr>
          <a:xfrm>
            <a:off x="5870448" y="2701180"/>
            <a:ext cx="2441438" cy="2852640"/>
          </a:xfrm>
          <a:prstGeom prst="rect">
            <a:avLst/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6666" y="604441"/>
            <a:ext cx="7330678" cy="721439"/>
          </a:xfrm>
        </p:spPr>
        <p:txBody>
          <a:bodyPr>
            <a:normAutofit fontScale="90000"/>
          </a:bodyPr>
          <a:lstStyle/>
          <a:p>
            <a:r>
              <a:rPr lang="en-IN" dirty="0"/>
              <a:t>Country-wise Restaurant 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B7E63C-A8B1-A5D6-D7F1-73CD75D67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473" y="1847089"/>
            <a:ext cx="3751751" cy="4105655"/>
          </a:xfrm>
        </p:spPr>
        <p:txBody>
          <a:bodyPr>
            <a:normAutofit/>
          </a:bodyPr>
          <a:lstStyle/>
          <a:p>
            <a:r>
              <a:rPr lang="en-IN" sz="1800" dirty="0"/>
              <a:t>India dominates the restaurant distribution:</a:t>
            </a:r>
            <a:r>
              <a:rPr lang="en-US" sz="1800" dirty="0"/>
              <a:t>Food delivery platforms like Zomato have </a:t>
            </a:r>
            <a:r>
              <a:rPr lang="en-US" sz="1800" b="1" dirty="0"/>
              <a:t>strong market presence in India</a:t>
            </a:r>
            <a:r>
              <a:rPr lang="en-US" sz="1800" dirty="0"/>
              <a:t>, leading to more listings compared to other countries.</a:t>
            </a:r>
          </a:p>
          <a:p>
            <a:r>
              <a:rPr lang="en-US" sz="1800" dirty="0"/>
              <a:t>Most other countries have very small restaurant counts: Countries like </a:t>
            </a:r>
            <a:r>
              <a:rPr lang="en-US" sz="1800" b="1" dirty="0"/>
              <a:t>Canada (4)</a:t>
            </a:r>
            <a:r>
              <a:rPr lang="en-US" sz="1800" dirty="0"/>
              <a:t>, </a:t>
            </a:r>
            <a:r>
              <a:rPr lang="en-US" sz="1800" b="1" dirty="0"/>
              <a:t>Singapore (19)</a:t>
            </a:r>
            <a:r>
              <a:rPr lang="en-US" sz="1800" dirty="0"/>
              <a:t>, </a:t>
            </a:r>
            <a:r>
              <a:rPr lang="en-US" sz="1800" b="1" dirty="0"/>
              <a:t>Qatar (20)</a:t>
            </a:r>
            <a:r>
              <a:rPr lang="en-US" sz="1800" dirty="0"/>
              <a:t>, </a:t>
            </a:r>
            <a:r>
              <a:rPr lang="en-US" sz="1800" b="1" dirty="0"/>
              <a:t>Sri Lanka (20)</a:t>
            </a:r>
            <a:r>
              <a:rPr lang="en-US" sz="1800" dirty="0"/>
              <a:t>, and </a:t>
            </a:r>
            <a:r>
              <a:rPr lang="en-US" sz="1800" b="1" dirty="0"/>
              <a:t>Indonesia (21)</a:t>
            </a:r>
            <a:r>
              <a:rPr lang="en-US" sz="1800" dirty="0"/>
              <a:t> have very low counts. The dataset likely focuses on </a:t>
            </a:r>
            <a:r>
              <a:rPr lang="en-US" sz="1800" b="1" dirty="0"/>
              <a:t>major or partner cities</a:t>
            </a:r>
            <a:r>
              <a:rPr lang="en-US" sz="1800" dirty="0"/>
              <a:t>, not full national coverage.</a:t>
            </a:r>
            <a:endParaRPr lang="en-IN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4BF277-0734-280A-6152-D4796FAF6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636735"/>
            <a:ext cx="3230543" cy="19392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D6E01F-ECF2-2E9F-C8F8-06588CDC9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777" y="3685629"/>
            <a:ext cx="3843484" cy="24092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23CB40-116B-135C-DF3F-BA6E67916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6D39-9112-4975-67C5-86E294A3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543" y="686166"/>
            <a:ext cx="7200897" cy="819236"/>
          </a:xfrm>
        </p:spPr>
        <p:txBody>
          <a:bodyPr>
            <a:normAutofit fontScale="90000"/>
          </a:bodyPr>
          <a:lstStyle/>
          <a:p>
            <a:r>
              <a:rPr lang="en-IN" dirty="0"/>
              <a:t>City &amp; Country-wise Restaurant Count</a:t>
            </a:r>
            <a:endParaRPr lang="en-IN" dirty="0">
              <a:solidFill>
                <a:srgbClr val="26262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EB58F-F393-AF08-41B1-E9CEFDC68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367" y="2378415"/>
            <a:ext cx="3334362" cy="359261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Cities like New Delhi (5472), Gurgaon (1117), and Noida (1078) dominate. The dataset is heavily focused on Indian cities, especially the Delhi NCR region.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Countries like United States, Brazil, UAE, and others have much smaller sections compared to India.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rgbClr val="262626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7D272E-C2EB-78BF-5D7A-01EB3010B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737" y="2460711"/>
            <a:ext cx="4300650" cy="230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7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DF4A54-B0AC-00B5-92E5-8497E7A38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A9BC876-571A-45A6-93A3-FB2839CE6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484B2EA-E61C-489C-A595-160191247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1802" y="0"/>
            <a:ext cx="9172471" cy="6856214"/>
            <a:chOff x="-15736" y="0"/>
            <a:chExt cx="12229962" cy="6856214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E987F02-C120-4654-AD1E-98AF4B643E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4E470B5-B546-4390-9A0D-408D49895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061B9CE-C400-4868-9385-01A0BBB98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0C49D50-A49B-4F80-81C4-05BBCF4B5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B6736F-7E53-021D-B1AE-FCDC6A1C2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075" y="982133"/>
            <a:ext cx="6475845" cy="31631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IN" sz="3400" dirty="0"/>
              <a:t>Restaurants Opened by Year , quarter wise trends 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124B3AE-D38B-4A63-B422-F9792E745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7792" y="2400639"/>
            <a:ext cx="43205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3D6B3-48CD-887B-7574-77DA1BBF7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539" y="2556932"/>
            <a:ext cx="3970782" cy="331893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Slight increase in recent years (around 2017–2018):</a:t>
            </a:r>
            <a:br>
              <a:rPr lang="en-US" dirty="0"/>
            </a:br>
            <a:r>
              <a:rPr lang="en-US" dirty="0"/>
              <a:t> This suggests growing market expansion, possibly due to rising urbanization, food delivery apps, and changing lifestyle trends.</a:t>
            </a:r>
          </a:p>
          <a:p>
            <a:r>
              <a:rPr lang="en-US" dirty="0"/>
              <a:t>Quarter-wise distribution is almost uniform across all quarters:</a:t>
            </a:r>
            <a:br>
              <a:rPr lang="en-US" dirty="0"/>
            </a:br>
            <a:r>
              <a:rPr lang="en-US" dirty="0"/>
              <a:t> This shows that restaurant openings are not highly seasonal, and businesses are launched throughout the year rather than in specific periods.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167CD7-162F-5393-2A09-5AC3F8984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771" y="1581913"/>
            <a:ext cx="2812843" cy="1927303"/>
          </a:xfrm>
          <a:prstGeom prst="rect">
            <a:avLst/>
          </a:prstGeom>
          <a:ln w="57150" cmpd="thickThin">
            <a:noFill/>
            <a:miter lim="800000"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EA38C3-C451-B680-8B98-72B1EFCB5E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1050" y="3685032"/>
            <a:ext cx="2812843" cy="2190836"/>
          </a:xfrm>
          <a:prstGeom prst="rect">
            <a:avLst/>
          </a:prstGeom>
          <a:ln w="57150" cmpd="thickThin"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2579664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EE395-6A3F-18E3-D981-BAAA08B9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1E6E-56FB-6765-9125-838C7EF6C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1" y="678719"/>
            <a:ext cx="7200897" cy="729458"/>
          </a:xfrm>
        </p:spPr>
        <p:txBody>
          <a:bodyPr>
            <a:normAutofit fontScale="90000"/>
          </a:bodyPr>
          <a:lstStyle/>
          <a:p>
            <a:r>
              <a:rPr lang="en-IN" dirty="0"/>
              <a:t>Price Range Distribution Analysis </a:t>
            </a:r>
            <a:br>
              <a:rPr lang="en-IN" dirty="0"/>
            </a:br>
            <a:endParaRPr lang="en-IN" dirty="0">
              <a:solidFill>
                <a:srgbClr val="26262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83001-0710-AA80-577B-D27794C36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551" y="1755648"/>
            <a:ext cx="3307842" cy="435254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Low-cost restaurants dominate the market : In countries like India, there is </a:t>
            </a:r>
            <a:r>
              <a:rPr lang="en-US" sz="1800" b="1" dirty="0"/>
              <a:t>high demand for budget-friendly food</a:t>
            </a:r>
            <a:r>
              <a:rPr lang="en-US" sz="1800" dirty="0"/>
              <a:t>, leading to more low-cost restaurant listings.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Medium-cost restaurants:</a:t>
            </a:r>
            <a:r>
              <a:rPr lang="en-US" sz="1800" dirty="0"/>
              <a:t>Many urban customers prefer </a:t>
            </a:r>
            <a:r>
              <a:rPr lang="en-US" sz="1800" b="1" dirty="0"/>
              <a:t>moderate pricing with better quality and ambiance</a:t>
            </a:r>
            <a:r>
              <a:rPr lang="en-US" sz="1800" dirty="0"/>
              <a:t>.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Luxury restaurants:</a:t>
            </a:r>
            <a:r>
              <a:rPr lang="en-US" sz="1800" dirty="0"/>
              <a:t>Luxury dining requires </a:t>
            </a:r>
            <a:r>
              <a:rPr lang="en-US" sz="1800" b="1" dirty="0"/>
              <a:t>high investment and premium customers</a:t>
            </a:r>
            <a:r>
              <a:rPr lang="en-US" sz="1800" dirty="0"/>
              <a:t>, which limits the number of such restaurants.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96362-588B-809F-23DE-50024D9CC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556933"/>
            <a:ext cx="3456432" cy="2781102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969625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D2956-6336-19CC-F62B-F07DCD00B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A0492-0254-5EA6-8FD4-0CECAD73E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666" y="604441"/>
            <a:ext cx="6798734" cy="922607"/>
          </a:xfrm>
        </p:spPr>
        <p:txBody>
          <a:bodyPr/>
          <a:lstStyle/>
          <a:p>
            <a:r>
              <a:rPr lang="en-IN" dirty="0"/>
              <a:t>Table Booking Analysis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061813-07B9-5195-0C88-6625BFB0D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490135"/>
            <a:ext cx="3359167" cy="248877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704C6A-D88F-DEDC-2855-450BAA0C0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85" y="2096943"/>
            <a:ext cx="3843191" cy="392895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Majority of restaurants (87.86%) do not offer table booking:</a:t>
            </a:r>
            <a:br>
              <a:rPr lang="en-US" dirty="0"/>
            </a:br>
            <a:r>
              <a:rPr lang="en-US" dirty="0"/>
              <a:t>This is because many restaurants are small or quick-service outlets where advance booking is not required.</a:t>
            </a:r>
          </a:p>
          <a:p>
            <a:r>
              <a:rPr lang="en-US" dirty="0"/>
              <a:t>Only a small percentage (12.14%) provide table booking facility:</a:t>
            </a:r>
            <a:br>
              <a:rPr lang="en-US" dirty="0"/>
            </a:br>
            <a:r>
              <a:rPr lang="en-US" dirty="0"/>
              <a:t>These are typically premium or dine-in restaurants that focus on better customer experience and planned visits.</a:t>
            </a:r>
          </a:p>
          <a:p>
            <a:r>
              <a:rPr lang="en-US" dirty="0"/>
              <a:t>Low adoption of table booking indicates an opportunity for growth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979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392" y="524933"/>
            <a:ext cx="7200897" cy="682075"/>
          </a:xfrm>
        </p:spPr>
        <p:txBody>
          <a:bodyPr>
            <a:normAutofit fontScale="90000"/>
          </a:bodyPr>
          <a:lstStyle/>
          <a:p>
            <a:r>
              <a:rPr lang="en-IN" dirty="0"/>
              <a:t>Online Delivery Analysis</a:t>
            </a:r>
            <a:endParaRPr lang="en-IN" dirty="0">
              <a:solidFill>
                <a:srgbClr val="26262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392" y="1380745"/>
            <a:ext cx="3737608" cy="437083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Majority of restaurants (74.31%) do not offer online delivery:</a:t>
            </a:r>
            <a:br>
              <a:rPr lang="en-US" sz="1700" dirty="0"/>
            </a:br>
            <a:r>
              <a:rPr lang="en-US" sz="1700" dirty="0"/>
              <a:t> This is because many restaurants are dine-in focused or small outlets that may not have logistics or delivery partnerships.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Only around 25.69% of restaurants provide online delivery:</a:t>
            </a:r>
            <a:br>
              <a:rPr lang="en-US" sz="1700" dirty="0"/>
            </a:br>
            <a:r>
              <a:rPr lang="en-US" sz="1700" dirty="0"/>
              <a:t> These are typically urban, fast-food, or high-demand restaurants that benefit from digital orders and convenience.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The analysis highlights that online delivery is still underutilize  creating a significant opportunity for restaurants to expand digitally and increase revenue.</a:t>
            </a:r>
            <a:endParaRPr lang="en-US" sz="1700" dirty="0">
              <a:solidFill>
                <a:srgbClr val="262626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78BED3-E165-F249-88D6-BE72594D3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2302764"/>
            <a:ext cx="3454144" cy="2388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817541"/>
            <a:ext cx="7200897" cy="910676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262626"/>
                </a:solidFill>
              </a:rPr>
              <a:t>Cuisine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605" y="1645921"/>
            <a:ext cx="3733573" cy="446227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North Indian cuisine dominates the market:</a:t>
            </a:r>
            <a:br>
              <a:rPr lang="en-US" dirty="0"/>
            </a:br>
            <a:r>
              <a:rPr lang="en-US" dirty="0"/>
              <a:t> This is because it is widely preferred across India, offering familiar taste, variety, and affordability, making it highly popular among customers.</a:t>
            </a:r>
          </a:p>
          <a:p>
            <a:r>
              <a:rPr lang="en-US" dirty="0"/>
              <a:t>Fast Food and Chinese cuisines have strong presence:</a:t>
            </a:r>
            <a:br>
              <a:rPr lang="en-US" dirty="0"/>
            </a:br>
            <a:r>
              <a:rPr lang="en-US" dirty="0"/>
              <a:t>These cuisines are popular due to quick preparation, lower pricing, and high demand among younger customers and delivery users.</a:t>
            </a:r>
          </a:p>
          <a:p>
            <a:r>
              <a:rPr lang="en-US" dirty="0"/>
              <a:t>Combination cuisines (e.g., North Indian + Chinese) are also high :</a:t>
            </a:r>
            <a:br>
              <a:rPr lang="en-US" dirty="0"/>
            </a:br>
            <a:r>
              <a:rPr lang="en-US" dirty="0"/>
              <a:t>Restaurants offer multi-cuisine menus to attract a wider audience, increasing customer footfall and order value.</a:t>
            </a:r>
            <a:endParaRPr lang="en-US" dirty="0">
              <a:solidFill>
                <a:srgbClr val="262626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2F2D4D-7B48-7F36-F91E-4B6F0DE83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178" y="1901953"/>
            <a:ext cx="3733574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831" y="628227"/>
            <a:ext cx="7200897" cy="898821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262626"/>
                </a:solidFill>
              </a:rPr>
              <a:t>city-wise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831" y="1527048"/>
            <a:ext cx="3216401" cy="470272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900" dirty="0"/>
              <a:t>New Delhi has the highest number of restaurants </a:t>
            </a:r>
            <a:r>
              <a:rPr lang="en-US" sz="1900" dirty="0">
                <a:solidFill>
                  <a:srgbClr val="262626"/>
                </a:solidFill>
              </a:rPr>
              <a:t>: </a:t>
            </a:r>
            <a:r>
              <a:rPr lang="en-US" sz="1900" dirty="0"/>
              <a:t>It has </a:t>
            </a:r>
            <a:r>
              <a:rPr lang="en-US" sz="1900" b="1" dirty="0"/>
              <a:t>high food demand</a:t>
            </a:r>
            <a:r>
              <a:rPr lang="en-US" sz="1900" dirty="0"/>
              <a:t>, many commercial areas, and strong restaurant competition, leading to more listings.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Other cities have very similar and lower restaurant counts : These cities may have </a:t>
            </a:r>
            <a:r>
              <a:rPr lang="en-US" sz="1900" b="1" dirty="0"/>
              <a:t>limited coverage</a:t>
            </a:r>
            <a:r>
              <a:rPr lang="en-US" sz="1900" dirty="0"/>
              <a:t> in the dataset.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The platform likely focused more on </a:t>
            </a:r>
            <a:r>
              <a:rPr lang="en-US" sz="1900" b="1" dirty="0"/>
              <a:t>major metropolitan regions</a:t>
            </a:r>
            <a:r>
              <a:rPr lang="en-US" sz="1900" dirty="0"/>
              <a:t> like Delhi NCR compared to smaller cities.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A2A16-D9BD-F562-1906-0725546DE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2227620"/>
            <a:ext cx="3702013" cy="3350219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3"/>
            <a:ext cx="7200897" cy="85581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262626"/>
                </a:solidFill>
              </a:rPr>
              <a:t>Rating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822" y="1962572"/>
            <a:ext cx="3710177" cy="370670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restaurants fall in mid ratings (3 &amp; 4) :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 most restaurants provide average to good service, but very few deliver an exceptional experience to reach rating 5.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low-rated restaurants (1 &amp; 2):  This suggests issues like poor service, food quality problems, or negative customer experiences, which impact overall brand perception. 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number of 5-star ratings:</a:t>
            </a:r>
            <a:b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could be due to high customer expectations, inconsistent quality, or lack of premium service, making it difficult for restaurants to achieve top ratings.</a:t>
            </a:r>
            <a:endParaRPr lang="en-US" sz="1500" dirty="0">
              <a:solidFill>
                <a:srgbClr val="26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D28B7-DCF0-BC2E-0D5A-0C3A180FD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2478024"/>
            <a:ext cx="3218688" cy="2459477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8625" y="906193"/>
            <a:ext cx="3591393" cy="629999"/>
          </a:xfrm>
        </p:spPr>
        <p:txBody>
          <a:bodyPr>
            <a:normAutofit fontScale="90000"/>
          </a:bodyPr>
          <a:lstStyle/>
          <a:p>
            <a:r>
              <a:rPr dirty="0"/>
              <a:t>Recommendation</a:t>
            </a:r>
            <a:r>
              <a:rPr lang="en-US" dirty="0"/>
              <a:t> &amp; Key insights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224" y="2139696"/>
            <a:ext cx="7598664" cy="5029199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Expand in high-demand cities like New Delhi, Gurgaon, Noida</a:t>
            </a:r>
            <a:r>
              <a:rPr lang="en-US" dirty="0"/>
              <a:t> since they show strong restaurant concentration and customer demand.</a:t>
            </a:r>
          </a:p>
          <a:p>
            <a:r>
              <a:rPr lang="en-US" b="1" dirty="0"/>
              <a:t>Focus marketing in low-count cities</a:t>
            </a:r>
            <a:r>
              <a:rPr lang="en-US" dirty="0"/>
              <a:t> (like Ghaziabad, Amritsar) to capture untapped market opportunities.</a:t>
            </a:r>
          </a:p>
          <a:p>
            <a:r>
              <a:rPr lang="en-US" b="1" dirty="0"/>
              <a:t>Invest more in North Indian cuisine</a:t>
            </a:r>
            <a:r>
              <a:rPr lang="en-US" dirty="0"/>
              <a:t> as it has the highest demand and market presence.</a:t>
            </a:r>
          </a:p>
          <a:p>
            <a:r>
              <a:rPr lang="en-US" b="1" dirty="0"/>
              <a:t>Differentiate in saturated categories (Fast Food, Chinese)</a:t>
            </a:r>
            <a:r>
              <a:rPr lang="en-US" dirty="0"/>
              <a:t> by offering unique menus or pricing strategies.</a:t>
            </a:r>
          </a:p>
          <a:p>
            <a:r>
              <a:rPr lang="en-US" b="1" dirty="0"/>
              <a:t>Introduce table booking feature</a:t>
            </a:r>
            <a:r>
              <a:rPr lang="en-US" dirty="0"/>
              <a:t> for more restaurants to improve customer convenience and increase premium bookings.</a:t>
            </a:r>
          </a:p>
          <a:p>
            <a:r>
              <a:rPr lang="en-US" b="1" dirty="0"/>
              <a:t>Promote booking-enabled restaurants</a:t>
            </a:r>
            <a:r>
              <a:rPr lang="en-US" dirty="0"/>
              <a:t> through offers to increase advance reservations and better capacity planning.</a:t>
            </a:r>
          </a:p>
          <a:p>
            <a:r>
              <a:rPr lang="en-US" b="1" dirty="0"/>
              <a:t>Identify growth trends</a:t>
            </a:r>
            <a:r>
              <a:rPr lang="en-US" dirty="0"/>
              <a:t> and align expansion plans in years with high growth patterns.</a:t>
            </a:r>
          </a:p>
          <a:p>
            <a:r>
              <a:rPr lang="en-US" b="1" dirty="0"/>
              <a:t>Analyze drop/stagnation years</a:t>
            </a:r>
            <a:r>
              <a:rPr lang="en-US" dirty="0"/>
              <a:t> to understand market challenges and avoid similar risks in future.</a:t>
            </a:r>
          </a:p>
          <a:p>
            <a:r>
              <a:rPr lang="en-US" b="1" dirty="0"/>
              <a:t>Focus on low-cost segment</a:t>
            </a:r>
            <a:r>
              <a:rPr lang="en-US" dirty="0"/>
              <a:t> as it dominates the market and attracts more customers</a:t>
            </a:r>
          </a:p>
          <a:p>
            <a:r>
              <a:rPr lang="en-US" b="1" dirty="0"/>
              <a:t>Introduce mid/high-range offerings</a:t>
            </a:r>
            <a:r>
              <a:rPr lang="en-US" dirty="0"/>
              <a:t> with better experience to increase profitability and margins</a:t>
            </a:r>
          </a:p>
          <a:p>
            <a:r>
              <a:rPr lang="en-US" b="1" dirty="0"/>
              <a:t>Improve quality in low-rated restaurants (1–2 rating)</a:t>
            </a:r>
            <a:r>
              <a:rPr lang="en-US" dirty="0"/>
              <a:t> by focusing on service and food quality.</a:t>
            </a:r>
          </a:p>
          <a:p>
            <a:r>
              <a:rPr lang="en-US" b="1" dirty="0"/>
              <a:t>Improve average rating (currently ~2.9)</a:t>
            </a:r>
            <a:r>
              <a:rPr lang="en-US" dirty="0"/>
              <a:t> by focusing on customer satisfaction and feedback systems.</a:t>
            </a:r>
          </a:p>
          <a:p>
            <a:endParaRPr lang="en-US" dirty="0"/>
          </a:p>
        </p:txBody>
      </p:sp>
      <p:pic>
        <p:nvPicPr>
          <p:cNvPr id="2052" name="Picture 4" descr="1,543 Top Recommendation Stock Photos - Free &amp; Royalty-Free Stock Photos  from Dreamstime">
            <a:extLst>
              <a:ext uri="{FF2B5EF4-FFF2-40B4-BE49-F238E27FC236}">
                <a16:creationId xmlns:a16="http://schemas.microsoft.com/office/drawing/2014/main" id="{BEF7EBE9-6D2C-062F-C542-063EE04C9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120" y="562824"/>
            <a:ext cx="2715768" cy="147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599947"/>
            <a:ext cx="7200897" cy="76437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262626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1" y="1508759"/>
            <a:ext cx="3316985" cy="47492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262626"/>
                </a:solidFill>
              </a:rPr>
              <a:t>The analysis of Zomato dataset reveals  focusing on high-demand cities, improving low-rated restaurant performance, 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262626"/>
                </a:solidFill>
              </a:rPr>
              <a:t>Overall, the dashboard highlights the need for </a:t>
            </a:r>
            <a:r>
              <a:rPr lang="en-US" sz="1500" b="1" dirty="0">
                <a:solidFill>
                  <a:srgbClr val="262626"/>
                </a:solidFill>
              </a:rPr>
              <a:t>quality improvement, strategic expansion, and better customer experience</a:t>
            </a:r>
            <a:r>
              <a:rPr lang="en-US" sz="1500" dirty="0">
                <a:solidFill>
                  <a:srgbClr val="262626"/>
                </a:solidFill>
              </a:rPr>
              <a:t> to drive growth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262626"/>
                </a:solidFill>
              </a:rPr>
              <a:t>There is </a:t>
            </a:r>
            <a:r>
              <a:rPr lang="en-US" sz="1500" b="1" dirty="0">
                <a:solidFill>
                  <a:srgbClr val="262626"/>
                </a:solidFill>
              </a:rPr>
              <a:t>high competition in popular cuisines and cities</a:t>
            </a:r>
            <a:r>
              <a:rPr lang="en-US" sz="1500" dirty="0">
                <a:solidFill>
                  <a:srgbClr val="262626"/>
                </a:solidFill>
              </a:rPr>
              <a:t>, requiring differentiation strategies.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262626"/>
                </a:solidFill>
              </a:rPr>
              <a:t>A large  number of restaurants have </a:t>
            </a:r>
            <a:r>
              <a:rPr lang="en-US" sz="1500" b="1" dirty="0">
                <a:solidFill>
                  <a:srgbClr val="262626"/>
                </a:solidFill>
              </a:rPr>
              <a:t>ratings below 3</a:t>
            </a:r>
            <a:r>
              <a:rPr lang="en-US" sz="1500" dirty="0">
                <a:solidFill>
                  <a:srgbClr val="262626"/>
                </a:solidFill>
              </a:rPr>
              <a:t>, highlighting quality and service gaps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rgbClr val="262626"/>
                </a:solidFill>
              </a:rPr>
              <a:t>This analysis helps businesses take data-driven decisions to improve performance, enhance customer satisfaction, and identify growth opportunities</a:t>
            </a:r>
          </a:p>
        </p:txBody>
      </p:sp>
      <p:pic>
        <p:nvPicPr>
          <p:cNvPr id="5" name="Picture 4" descr="People in a presentation">
            <a:extLst>
              <a:ext uri="{FF2B5EF4-FFF2-40B4-BE49-F238E27FC236}">
                <a16:creationId xmlns:a16="http://schemas.microsoft.com/office/drawing/2014/main" id="{2CED0DF5-113D-028D-A92E-0A38D093A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134" y="2013331"/>
            <a:ext cx="3894898" cy="2650109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EB4B82D-A989-40D8-A457-F1D9C0345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E99EC7-4ECA-46FD-A4EE-C28A8AC67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02" y="28937"/>
            <a:ext cx="9141618" cy="68562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3BDCE6-4CD3-813D-F14E-E29ED0492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1748534"/>
            <a:ext cx="7847838" cy="458825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67034349-EB95-4DEC-941A-A5BEB23CC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9176000" cy="658368"/>
            <a:chOff x="-18288" y="3128956"/>
            <a:chExt cx="12234672" cy="658368"/>
          </a:xfrm>
        </p:grpSpPr>
        <p:sp useBgFill="1">
          <p:nvSpPr>
            <p:cNvPr id="21" name="Rounded Rectangle 21">
              <a:extLst>
                <a:ext uri="{FF2B5EF4-FFF2-40B4-BE49-F238E27FC236}">
                  <a16:creationId xmlns:a16="http://schemas.microsoft.com/office/drawing/2014/main" id="{4ED14EF1-39B3-426A-842A-CEA137A65D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0BA46E3-54EA-491A-BDC2-C9A945118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2" name="Rounded Rectangle 27">
              <a:extLst>
                <a:ext uri="{FF2B5EF4-FFF2-40B4-BE49-F238E27FC236}">
                  <a16:creationId xmlns:a16="http://schemas.microsoft.com/office/drawing/2014/main" id="{BC6C1592-02CC-4EA4-9A0E-7BE7C1ED8B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srgbClr val="171717">
                  <a:alpha val="82745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67E44A5-FAF8-4D81-90C9-CFD68F1A1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AB09A34-D259-2BCB-7A36-FE63D8F959BB}"/>
              </a:ext>
            </a:extLst>
          </p:cNvPr>
          <p:cNvSpPr txBox="1"/>
          <p:nvPr/>
        </p:nvSpPr>
        <p:spPr>
          <a:xfrm>
            <a:off x="291465" y="713233"/>
            <a:ext cx="835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Dashboard </a:t>
            </a:r>
            <a:endParaRPr lang="en-IN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DC36DC-347E-9526-DB83-89FE62A33EA5}"/>
              </a:ext>
            </a:extLst>
          </p:cNvPr>
          <p:cNvSpPr txBox="1"/>
          <p:nvPr/>
        </p:nvSpPr>
        <p:spPr>
          <a:xfrm>
            <a:off x="713232" y="1157283"/>
            <a:ext cx="736874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Purpose- </a:t>
            </a:r>
            <a:r>
              <a:rPr lang="en-US" sz="1500" dirty="0"/>
              <a:t>To analyze restaurant data and generate actionable insights that help in understanding customer preferences, market trends, and business performance for better decision-making.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638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38" y="640081"/>
            <a:ext cx="7985422" cy="694943"/>
          </a:xfrm>
        </p:spPr>
        <p:txBody>
          <a:bodyPr>
            <a:normAutofit fontScale="90000"/>
          </a:bodyPr>
          <a:lstStyle/>
          <a:p>
            <a:r>
              <a:rPr dirty="0"/>
              <a:t>Dashboard S</a:t>
            </a:r>
            <a:r>
              <a:rPr lang="en-US" dirty="0"/>
              <a:t>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817" y="1502583"/>
            <a:ext cx="7500791" cy="471533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dataset consists of </a:t>
            </a:r>
            <a:r>
              <a:rPr lang="en-US" b="1" dirty="0"/>
              <a:t>9,500+ restaurants across multiple cities and countries</a:t>
            </a:r>
            <a:r>
              <a:rPr lang="en-US" dirty="0"/>
              <a:t>, providing a comprehensive market overview.</a:t>
            </a:r>
          </a:p>
          <a:p>
            <a:r>
              <a:rPr lang="en-US" b="1" dirty="0"/>
              <a:t>Restaurant concentration is highest in metro cities</a:t>
            </a:r>
            <a:r>
              <a:rPr lang="en-US" dirty="0"/>
              <a:t>, especially Delhi NCR, indicating strong demand in urban areas.</a:t>
            </a:r>
          </a:p>
          <a:p>
            <a:r>
              <a:rPr lang="en-US" b="1" dirty="0"/>
              <a:t>North Indian cuisine is the most dominant</a:t>
            </a:r>
            <a:r>
              <a:rPr lang="en-US" dirty="0"/>
              <a:t>, followed by Chinese and Fast Food, reflecting customer food preferences.</a:t>
            </a:r>
          </a:p>
          <a:p>
            <a:r>
              <a:rPr lang="en-US" dirty="0"/>
              <a:t>Most restaurants fall under the </a:t>
            </a:r>
            <a:r>
              <a:rPr lang="en-US" b="1" dirty="0"/>
              <a:t>low-cost pricing segment</a:t>
            </a:r>
            <a:r>
              <a:rPr lang="en-US" dirty="0"/>
              <a:t>, showing that the market is highly price-sensitive.</a:t>
            </a:r>
          </a:p>
          <a:p>
            <a:r>
              <a:rPr lang="en-US" dirty="0"/>
              <a:t>The </a:t>
            </a:r>
            <a:r>
              <a:rPr lang="en-US" b="1" dirty="0"/>
              <a:t>average rating is around 2.9</a:t>
            </a:r>
            <a:r>
              <a:rPr lang="en-US" dirty="0"/>
              <a:t>, with most restaurants rated between 3 and 4, indicating moderate customer satisfaction.</a:t>
            </a:r>
          </a:p>
          <a:p>
            <a:r>
              <a:rPr lang="en-US" dirty="0"/>
              <a:t>A large percentage of restaurants </a:t>
            </a:r>
            <a:r>
              <a:rPr lang="en-US" b="1" dirty="0"/>
              <a:t>do not offer table booking</a:t>
            </a:r>
            <a:r>
              <a:rPr lang="en-US" dirty="0"/>
              <a:t>, highlighting an opportunity to improve customer convenience.</a:t>
            </a:r>
          </a:p>
          <a:p>
            <a:r>
              <a:rPr lang="en-US" dirty="0"/>
              <a:t>Overall, the dashboard highlights key areas for </a:t>
            </a:r>
            <a:r>
              <a:rPr lang="en-US" b="1" dirty="0"/>
              <a:t>business improvement such as quality enhancement, strategic expansion, and better service offerings</a:t>
            </a:r>
            <a:r>
              <a:rPr lang="en-US" dirty="0"/>
              <a:t>.</a:t>
            </a:r>
          </a:p>
          <a:p>
            <a:r>
              <a:rPr lang="en-US" dirty="0"/>
              <a:t> This dashboard provides actionable insights that can help restaurants improve performance and make data-driven business decisions.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93261-2785-E045-D287-F77BBEA3C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AB635-FF76-560B-DC2C-F5E2D4C99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Thank You Presentation Images | Template Presentation | Sample of PPT  Presentation | Presentation Background Images">
            <a:extLst>
              <a:ext uri="{FF2B5EF4-FFF2-40B4-BE49-F238E27FC236}">
                <a16:creationId xmlns:a16="http://schemas.microsoft.com/office/drawing/2014/main" id="{A5D8BC6E-EFD7-3E6F-62ED-108C31E3C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64" y="812673"/>
            <a:ext cx="6976872" cy="5232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4116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1232</TotalTime>
  <Words>1495</Words>
  <Application>Microsoft Office PowerPoint</Application>
  <PresentationFormat>On-screen Show (4:3)</PresentationFormat>
  <Paragraphs>103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Garamond</vt:lpstr>
      <vt:lpstr>Segoe UI Semibold</vt:lpstr>
      <vt:lpstr>Times New Roman</vt:lpstr>
      <vt:lpstr>Organic</vt:lpstr>
      <vt:lpstr>Zomato Restaurant Data Analysis</vt:lpstr>
      <vt:lpstr>Introduction</vt:lpstr>
      <vt:lpstr>Data Overview</vt:lpstr>
      <vt:lpstr>Objectives / KPIs</vt:lpstr>
      <vt:lpstr>Project Process</vt:lpstr>
      <vt:lpstr>Country-wise Restaurant Distribution</vt:lpstr>
      <vt:lpstr>City &amp; Country-wise Restaurant Count</vt:lpstr>
      <vt:lpstr>Restaurants Opened by Year , quarter wise trends </vt:lpstr>
      <vt:lpstr>Price Range Distribution Analysis  </vt:lpstr>
      <vt:lpstr>Table Booking Analysis</vt:lpstr>
      <vt:lpstr>Online Delivery Analysis</vt:lpstr>
      <vt:lpstr>Cuisine Analysis</vt:lpstr>
      <vt:lpstr>city-wise Analysis</vt:lpstr>
      <vt:lpstr>Rating Distribution</vt:lpstr>
      <vt:lpstr>Recommendation &amp; Key insights</vt:lpstr>
      <vt:lpstr>Conclusion</vt:lpstr>
      <vt:lpstr>PowerPoint Presentation</vt:lpstr>
      <vt:lpstr>Dashboard Summary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shree ram</cp:lastModifiedBy>
  <cp:revision>13</cp:revision>
  <dcterms:created xsi:type="dcterms:W3CDTF">2013-01-27T09:14:16Z</dcterms:created>
  <dcterms:modified xsi:type="dcterms:W3CDTF">2026-03-25T13:00:47Z</dcterms:modified>
  <cp:category/>
</cp:coreProperties>
</file>